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Mono Bold" charset="1" panose="00000000000000000000"/>
      <p:regular r:id="rId16"/>
    </p:embeddedFont>
    <p:embeddedFont>
      <p:font typeface="Alice Bold" charset="1" panose="00000500000000000000"/>
      <p:regular r:id="rId17"/>
    </p:embeddedFont>
    <p:embeddedFont>
      <p:font typeface="Ali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VAHL_iLJ9oc.mp4" Type="http://schemas.openxmlformats.org/officeDocument/2006/relationships/video"/><Relationship Id="rId7" Target="../media/VAHL_iLJ9oc.mp4" Type="http://schemas.microsoft.com/office/2007/relationships/media"/><Relationship Id="rId8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jpeg" Type="http://schemas.openxmlformats.org/officeDocument/2006/relationships/image"/><Relationship Id="rId5" Target="../media/image10.jpe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jpeg" Type="http://schemas.openxmlformats.org/officeDocument/2006/relationships/image"/><Relationship Id="rId6" Target="../media/image15.png" Type="http://schemas.openxmlformats.org/officeDocument/2006/relationships/image"/><Relationship Id="rId7" Target="../media/image16.jpeg" Type="http://schemas.openxmlformats.org/officeDocument/2006/relationships/image"/><Relationship Id="rId8" Target="https://pemrogramanmatlab.com/2023/08/08/analisis-tekstur-pada-citra-digital-menggunakan-metode-gray-level-co-occurrence-matrix-glcm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274" y="-1920392"/>
            <a:ext cx="17199270" cy="14127784"/>
          </a:xfrm>
          <a:custGeom>
            <a:avLst/>
            <a:gdLst/>
            <a:ahLst/>
            <a:cxnLst/>
            <a:rect r="r" b="b" t="t" l="l"/>
            <a:pathLst>
              <a:path h="14127784" w="17199270">
                <a:moveTo>
                  <a:pt x="0" y="0"/>
                </a:moveTo>
                <a:lnTo>
                  <a:pt x="17199270" y="0"/>
                </a:lnTo>
                <a:lnTo>
                  <a:pt x="17199270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268" r="0" b="-202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2611" y="-1452895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43800" y="2865760"/>
            <a:ext cx="3200400" cy="178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99"/>
              </a:lnSpc>
              <a:spcBef>
                <a:spcPct val="0"/>
              </a:spcBef>
            </a:pPr>
            <a:r>
              <a:rPr lang="en-US" b="true" sz="10499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GLCM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2450" y="4707415"/>
            <a:ext cx="9563100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Gray-L</a:t>
            </a:r>
            <a:r>
              <a:rPr lang="en-US" sz="50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evel Co-Occurrence Matrix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19862" y="6798940"/>
            <a:ext cx="52482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Christivan Budi Hutama (2313020104)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99234" y="-2067275"/>
            <a:ext cx="12238193" cy="14127784"/>
          </a:xfrm>
          <a:custGeom>
            <a:avLst/>
            <a:gdLst/>
            <a:ahLst/>
            <a:cxnLst/>
            <a:rect r="r" b="b" t="t" l="l"/>
            <a:pathLst>
              <a:path h="14127784" w="12238193">
                <a:moveTo>
                  <a:pt x="0" y="0"/>
                </a:moveTo>
                <a:lnTo>
                  <a:pt x="12238193" y="0"/>
                </a:lnTo>
                <a:lnTo>
                  <a:pt x="12238193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1289" y="-1688253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916" y="2989936"/>
            <a:ext cx="523589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Apa itu </a:t>
            </a:r>
            <a:r>
              <a:rPr lang="en-US" b="true" sz="5000" spc="-340">
                <a:solidFill>
                  <a:srgbClr val="FF313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GLCM</a:t>
            </a:r>
            <a:r>
              <a:rPr lang="en-US" b="true" sz="5000" spc="-340">
                <a:solidFill>
                  <a:srgbClr val="0CC0D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 </a:t>
            </a: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0770" y="3863975"/>
            <a:ext cx="16188530" cy="247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Gray-Level Co-Occurrence Matrix (</a:t>
            </a:r>
            <a:r>
              <a:rPr lang="en-US" sz="3500">
                <a:solidFill>
                  <a:srgbClr val="FF3131"/>
                </a:solidFill>
                <a:latin typeface="Alice"/>
                <a:ea typeface="Alice"/>
                <a:cs typeface="Alice"/>
                <a:sym typeface="Alice"/>
              </a:rPr>
              <a:t>GLCM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) adalah metode statistik yang digunakan untuk menganalisis tekstur citra dengan menghitung frekuensi kemunculan pasangan  piksel pada jarak dan orientasi tertentu. GLCM merepresentasikan hubungan spasial  antara dua piksel dalam citra grayscale.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99234" y="-2067275"/>
            <a:ext cx="12238193" cy="14127784"/>
          </a:xfrm>
          <a:custGeom>
            <a:avLst/>
            <a:gdLst/>
            <a:ahLst/>
            <a:cxnLst/>
            <a:rect r="r" b="b" t="t" l="l"/>
            <a:pathLst>
              <a:path h="14127784" w="12238193">
                <a:moveTo>
                  <a:pt x="0" y="0"/>
                </a:moveTo>
                <a:lnTo>
                  <a:pt x="12238193" y="0"/>
                </a:lnTo>
                <a:lnTo>
                  <a:pt x="12238193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1289" y="-1688253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0770" y="2841914"/>
            <a:ext cx="6255208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Cara kerja </a:t>
            </a:r>
            <a:r>
              <a:rPr lang="en-US" b="true" sz="5000" spc="-340">
                <a:solidFill>
                  <a:srgbClr val="FF313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GLCM </a:t>
            </a: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0770" y="3727092"/>
            <a:ext cx="16188530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3131"/>
                </a:solidFill>
                <a:latin typeface="Alice"/>
                <a:ea typeface="Alice"/>
                <a:cs typeface="Alice"/>
                <a:sym typeface="Alice"/>
              </a:rPr>
              <a:t>GLCM 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dibangun dengan menghitung seberapa sering pasangan piksel dengan nilai  intensitas tertentu muncul bersamaan dalam citra berdasarkan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9735" y="5125670"/>
            <a:ext cx="16188530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3131"/>
                </a:solidFill>
                <a:latin typeface="Alice"/>
                <a:ea typeface="Alice"/>
                <a:cs typeface="Alice"/>
                <a:sym typeface="Alice"/>
              </a:rPr>
              <a:t>Jarak (d)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: Pemisahan spasial antara dua piksel (misalnya, 1, 2, atau 3 piksel).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3131"/>
                </a:solidFill>
                <a:latin typeface="Alice"/>
                <a:ea typeface="Alice"/>
                <a:cs typeface="Alice"/>
                <a:sym typeface="Alice"/>
              </a:rPr>
              <a:t>Sudut (θ)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: Arah relatif antara dua piksel (biasanya 0°, 45°, 90°, atau 135°).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994095" y="6903670"/>
            <a:ext cx="11354388" cy="2395457"/>
            <a:chOff x="0" y="0"/>
            <a:chExt cx="15139185" cy="31939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41631" cy="3193942"/>
            </a:xfrm>
            <a:custGeom>
              <a:avLst/>
              <a:gdLst/>
              <a:ahLst/>
              <a:cxnLst/>
              <a:rect r="r" b="b" t="t" l="l"/>
              <a:pathLst>
                <a:path h="3193942" w="7741631">
                  <a:moveTo>
                    <a:pt x="0" y="0"/>
                  </a:moveTo>
                  <a:lnTo>
                    <a:pt x="7741631" y="0"/>
                  </a:lnTo>
                  <a:lnTo>
                    <a:pt x="7741631" y="3193942"/>
                  </a:lnTo>
                  <a:lnTo>
                    <a:pt x="0" y="3193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23179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741631" y="0"/>
              <a:ext cx="7397554" cy="3193942"/>
            </a:xfrm>
            <a:custGeom>
              <a:avLst/>
              <a:gdLst/>
              <a:ahLst/>
              <a:cxnLst/>
              <a:rect r="r" b="b" t="t" l="l"/>
              <a:pathLst>
                <a:path h="3193942" w="7397554">
                  <a:moveTo>
                    <a:pt x="0" y="0"/>
                  </a:moveTo>
                  <a:lnTo>
                    <a:pt x="7397554" y="0"/>
                  </a:lnTo>
                  <a:lnTo>
                    <a:pt x="7397554" y="3193942"/>
                  </a:lnTo>
                  <a:lnTo>
                    <a:pt x="0" y="3193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464" r="0" b="-679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99234" y="-2067275"/>
            <a:ext cx="12238193" cy="14127784"/>
          </a:xfrm>
          <a:custGeom>
            <a:avLst/>
            <a:gdLst/>
            <a:ahLst/>
            <a:cxnLst/>
            <a:rect r="r" b="b" t="t" l="l"/>
            <a:pathLst>
              <a:path h="14127784" w="12238193">
                <a:moveTo>
                  <a:pt x="0" y="0"/>
                </a:moveTo>
                <a:lnTo>
                  <a:pt x="12238193" y="0"/>
                </a:lnTo>
                <a:lnTo>
                  <a:pt x="12238193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47004" y="-1404324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3611" y="2537349"/>
            <a:ext cx="10986786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Langkah pembuatan matrix </a:t>
            </a:r>
            <a:r>
              <a:rPr lang="en-US" b="true" sz="5000" spc="-340">
                <a:solidFill>
                  <a:srgbClr val="FF313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GLCM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0770" y="3752850"/>
            <a:ext cx="16188530" cy="309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Pembuatan co-occurrence matrix (</a:t>
            </a:r>
            <a:r>
              <a:rPr lang="en-US" sz="3500">
                <a:solidFill>
                  <a:srgbClr val="BD2626"/>
                </a:solidFill>
                <a:latin typeface="Alice"/>
                <a:ea typeface="Alice"/>
                <a:cs typeface="Alice"/>
                <a:sym typeface="Alice"/>
              </a:rPr>
              <a:t>mengisi framework matrix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Pembuatan symmetric matrix (</a:t>
            </a:r>
            <a:r>
              <a:rPr lang="en-US" sz="3500">
                <a:solidFill>
                  <a:srgbClr val="BD2626"/>
                </a:solidFill>
                <a:latin typeface="Alice"/>
                <a:ea typeface="Alice"/>
                <a:cs typeface="Alice"/>
                <a:sym typeface="Alice"/>
              </a:rPr>
              <a:t>penjumlahan co-occurrence matrix dengan transpose matrix</a:t>
            </a: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Matrix normalization yang akan menghasilkan nilai matrix antara 0–1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Perhitungan fitur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12442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6240">
            <a:off x="14762327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7161" y="-53464"/>
            <a:ext cx="17202725" cy="10340464"/>
            <a:chOff x="0" y="0"/>
            <a:chExt cx="22936967" cy="1378728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1878195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21058772" y="0"/>
                  </a:moveTo>
                  <a:lnTo>
                    <a:pt x="0" y="0"/>
                  </a:lnTo>
                  <a:lnTo>
                    <a:pt x="0" y="13787285"/>
                  </a:lnTo>
                  <a:lnTo>
                    <a:pt x="21058772" y="13787285"/>
                  </a:lnTo>
                  <a:lnTo>
                    <a:pt x="21058772" y="0"/>
                  </a:lnTo>
                  <a:close/>
                </a:path>
              </a:pathLst>
            </a:custGeom>
            <a:blipFill>
              <a:blip r:embed="rId3"/>
              <a:stretch>
                <a:fillRect l="0" t="-96664" r="-40635" b="-10704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0" y="0"/>
                  </a:moveTo>
                  <a:lnTo>
                    <a:pt x="21058771" y="0"/>
                  </a:lnTo>
                  <a:lnTo>
                    <a:pt x="21058771" y="13787285"/>
                  </a:lnTo>
                  <a:lnTo>
                    <a:pt x="0" y="13787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3" r="-32981" b="-987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615631" y="4680823"/>
            <a:ext cx="2617506" cy="2167362"/>
          </a:xfrm>
          <a:custGeom>
            <a:avLst/>
            <a:gdLst/>
            <a:ahLst/>
            <a:cxnLst/>
            <a:rect r="r" b="b" t="t" l="l"/>
            <a:pathLst>
              <a:path h="2167362" w="2617506">
                <a:moveTo>
                  <a:pt x="0" y="0"/>
                </a:moveTo>
                <a:lnTo>
                  <a:pt x="2617507" y="0"/>
                </a:lnTo>
                <a:lnTo>
                  <a:pt x="2617507" y="2167362"/>
                </a:lnTo>
                <a:lnTo>
                  <a:pt x="0" y="216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05651" y="4680823"/>
            <a:ext cx="2515503" cy="2167362"/>
          </a:xfrm>
          <a:custGeom>
            <a:avLst/>
            <a:gdLst/>
            <a:ahLst/>
            <a:cxnLst/>
            <a:rect r="r" b="b" t="t" l="l"/>
            <a:pathLst>
              <a:path h="2167362" w="2515503">
                <a:moveTo>
                  <a:pt x="0" y="0"/>
                </a:moveTo>
                <a:lnTo>
                  <a:pt x="2515502" y="0"/>
                </a:lnTo>
                <a:lnTo>
                  <a:pt x="2515502" y="2167362"/>
                </a:lnTo>
                <a:lnTo>
                  <a:pt x="0" y="2167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20" t="-12020" r="-23526" b="-1048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11149" y="4583152"/>
            <a:ext cx="2792451" cy="2257056"/>
          </a:xfrm>
          <a:custGeom>
            <a:avLst/>
            <a:gdLst/>
            <a:ahLst/>
            <a:cxnLst/>
            <a:rect r="r" b="b" t="t" l="l"/>
            <a:pathLst>
              <a:path h="2257056" w="2792451">
                <a:moveTo>
                  <a:pt x="0" y="0"/>
                </a:moveTo>
                <a:lnTo>
                  <a:pt x="2792451" y="0"/>
                </a:lnTo>
                <a:lnTo>
                  <a:pt x="2792451" y="2257056"/>
                </a:lnTo>
                <a:lnTo>
                  <a:pt x="0" y="2257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4044" y="2000250"/>
            <a:ext cx="1581991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Langkah 1.co-occurrence matrix</a:t>
            </a:r>
          </a:p>
          <a:p>
            <a:pPr algn="ctr">
              <a:lnSpc>
                <a:spcPts val="25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01935" y="4405351"/>
            <a:ext cx="3244900" cy="17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2000" spc="1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matrix 3x3 , gray tone 0-3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5053" y="4405351"/>
            <a:ext cx="2876699" cy="17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2000" spc="1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framework matrix  4x4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34297" y="7067260"/>
            <a:ext cx="5858210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2000" spc="1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Quantization level = count(gray tone)</a:t>
            </a:r>
          </a:p>
          <a:p>
            <a:pPr algn="ctr">
              <a:lnSpc>
                <a:spcPts val="1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621438" y="4405351"/>
            <a:ext cx="2371874" cy="17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2000" spc="100">
                <a:solidFill>
                  <a:srgbClr val="545454"/>
                </a:solidFill>
                <a:latin typeface="Alice Bold"/>
                <a:ea typeface="Alice Bold"/>
                <a:cs typeface="Alice Bold"/>
                <a:sym typeface="Alice Bold"/>
              </a:rPr>
              <a:t>matriks koordinat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12442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6240">
            <a:off x="14762327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7161" y="-53464"/>
            <a:ext cx="17202725" cy="10340464"/>
            <a:chOff x="0" y="0"/>
            <a:chExt cx="22936967" cy="1378728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1878195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21058772" y="0"/>
                  </a:moveTo>
                  <a:lnTo>
                    <a:pt x="0" y="0"/>
                  </a:lnTo>
                  <a:lnTo>
                    <a:pt x="0" y="13787285"/>
                  </a:lnTo>
                  <a:lnTo>
                    <a:pt x="21058772" y="13787285"/>
                  </a:lnTo>
                  <a:lnTo>
                    <a:pt x="21058772" y="0"/>
                  </a:lnTo>
                  <a:close/>
                </a:path>
              </a:pathLst>
            </a:custGeom>
            <a:blipFill>
              <a:blip r:embed="rId3"/>
              <a:stretch>
                <a:fillRect l="0" t="-96664" r="-40635" b="-10704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0" y="0"/>
                  </a:moveTo>
                  <a:lnTo>
                    <a:pt x="21058771" y="0"/>
                  </a:lnTo>
                  <a:lnTo>
                    <a:pt x="21058771" y="13787285"/>
                  </a:lnTo>
                  <a:lnTo>
                    <a:pt x="0" y="13787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3" r="-32981" b="-98759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20059" y="4557475"/>
            <a:ext cx="5400483" cy="4700825"/>
          </a:xfrm>
          <a:custGeom>
            <a:avLst/>
            <a:gdLst/>
            <a:ahLst/>
            <a:cxnLst/>
            <a:rect r="r" b="b" t="t" l="l"/>
            <a:pathLst>
              <a:path h="4700825" w="5400483">
                <a:moveTo>
                  <a:pt x="0" y="0"/>
                </a:moveTo>
                <a:lnTo>
                  <a:pt x="5400483" y="0"/>
                </a:lnTo>
                <a:lnTo>
                  <a:pt x="5400483" y="4700825"/>
                </a:lnTo>
                <a:lnTo>
                  <a:pt x="0" y="4700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9708" y="2011221"/>
            <a:ext cx="16608585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Langkah 1.co-occurrence matrix</a:t>
            </a:r>
          </a:p>
          <a:p>
            <a:pPr algn="ctr">
              <a:lnSpc>
                <a:spcPts val="2500"/>
              </a:lnSpc>
            </a:pPr>
          </a:p>
        </p:txBody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1528402" y="5524890"/>
            <a:ext cx="4289081" cy="373341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7177243" y="6743308"/>
            <a:ext cx="2155750" cy="2514992"/>
          </a:xfrm>
          <a:custGeom>
            <a:avLst/>
            <a:gdLst/>
            <a:ahLst/>
            <a:cxnLst/>
            <a:rect r="r" b="b" t="t" l="l"/>
            <a:pathLst>
              <a:path h="2514992" w="2155750">
                <a:moveTo>
                  <a:pt x="0" y="0"/>
                </a:moveTo>
                <a:lnTo>
                  <a:pt x="2155749" y="0"/>
                </a:lnTo>
                <a:lnTo>
                  <a:pt x="2155749" y="2514992"/>
                </a:lnTo>
                <a:lnTo>
                  <a:pt x="0" y="2514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3777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77243" y="6383994"/>
            <a:ext cx="504465" cy="35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3"/>
              </a:lnSpc>
              <a:spcBef>
                <a:spcPct val="0"/>
              </a:spcBef>
            </a:pPr>
            <a:r>
              <a:rPr lang="en-US" sz="2045" spc="-139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hasil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26527" y="4742118"/>
            <a:ext cx="529283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36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ilustrasi keseluruhan step pencarian co-occurrence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36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 matrix pada input matrix 3x3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12442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6240">
            <a:off x="14762327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7161" y="-53464"/>
            <a:ext cx="17202725" cy="10340464"/>
            <a:chOff x="0" y="0"/>
            <a:chExt cx="22936967" cy="1378728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1878195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21058772" y="0"/>
                  </a:moveTo>
                  <a:lnTo>
                    <a:pt x="0" y="0"/>
                  </a:lnTo>
                  <a:lnTo>
                    <a:pt x="0" y="13787285"/>
                  </a:lnTo>
                  <a:lnTo>
                    <a:pt x="21058772" y="13787285"/>
                  </a:lnTo>
                  <a:lnTo>
                    <a:pt x="21058772" y="0"/>
                  </a:lnTo>
                  <a:close/>
                </a:path>
              </a:pathLst>
            </a:custGeom>
            <a:blipFill>
              <a:blip r:embed="rId3"/>
              <a:stretch>
                <a:fillRect l="0" t="-96664" r="-40635" b="-10704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0" y="0"/>
                  </a:moveTo>
                  <a:lnTo>
                    <a:pt x="21058771" y="0"/>
                  </a:lnTo>
                  <a:lnTo>
                    <a:pt x="21058771" y="13787285"/>
                  </a:lnTo>
                  <a:lnTo>
                    <a:pt x="0" y="13787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3" r="-32981" b="-9875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919166"/>
            <a:ext cx="1660858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Langkah 2.symmetric matrix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116656" y="5303056"/>
            <a:ext cx="10432672" cy="3098260"/>
            <a:chOff x="0" y="0"/>
            <a:chExt cx="13910229" cy="41310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0078" y="0"/>
              <a:ext cx="3975272" cy="4131013"/>
            </a:xfrm>
            <a:custGeom>
              <a:avLst/>
              <a:gdLst/>
              <a:ahLst/>
              <a:cxnLst/>
              <a:rect r="r" b="b" t="t" l="l"/>
              <a:pathLst>
                <a:path h="4131013" w="3975272">
                  <a:moveTo>
                    <a:pt x="0" y="0"/>
                  </a:moveTo>
                  <a:lnTo>
                    <a:pt x="3975272" y="0"/>
                  </a:lnTo>
                  <a:lnTo>
                    <a:pt x="3975272" y="4131013"/>
                  </a:lnTo>
                  <a:lnTo>
                    <a:pt x="0" y="4131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798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139196" y="228401"/>
              <a:ext cx="3771033" cy="3674211"/>
            </a:xfrm>
            <a:custGeom>
              <a:avLst/>
              <a:gdLst/>
              <a:ahLst/>
              <a:cxnLst/>
              <a:rect r="r" b="b" t="t" l="l"/>
              <a:pathLst>
                <a:path h="3674211" w="3771033">
                  <a:moveTo>
                    <a:pt x="0" y="0"/>
                  </a:moveTo>
                  <a:lnTo>
                    <a:pt x="3771033" y="0"/>
                  </a:lnTo>
                  <a:lnTo>
                    <a:pt x="3771033" y="3674211"/>
                  </a:lnTo>
                  <a:lnTo>
                    <a:pt x="0" y="3674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47" t="0" r="-1776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612996" y="1440730"/>
              <a:ext cx="827082" cy="1144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65"/>
                </a:lnSpc>
                <a:spcBef>
                  <a:spcPct val="0"/>
                </a:spcBef>
              </a:pPr>
              <a:r>
                <a:rPr lang="en-US" b="true" sz="5118" spc="-348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+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863732" y="1440730"/>
              <a:ext cx="827082" cy="1144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65"/>
                </a:lnSpc>
                <a:spcBef>
                  <a:spcPct val="0"/>
                </a:spcBef>
              </a:pPr>
              <a:r>
                <a:rPr lang="en-US" b="true" sz="5118" spc="-348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12996" cy="4131013"/>
            </a:xfrm>
            <a:custGeom>
              <a:avLst/>
              <a:gdLst/>
              <a:ahLst/>
              <a:cxnLst/>
              <a:rect r="r" b="b" t="t" l="l"/>
              <a:pathLst>
                <a:path h="4131013" w="3612996">
                  <a:moveTo>
                    <a:pt x="0" y="0"/>
                  </a:moveTo>
                  <a:lnTo>
                    <a:pt x="3612996" y="0"/>
                  </a:lnTo>
                  <a:lnTo>
                    <a:pt x="3612996" y="4131013"/>
                  </a:lnTo>
                  <a:lnTo>
                    <a:pt x="0" y="4131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3303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116656" y="4524008"/>
            <a:ext cx="852070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204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menj</a:t>
            </a:r>
            <a:r>
              <a:rPr lang="en-US" sz="3000" spc="-204">
                <a:solidFill>
                  <a:srgbClr val="545454"/>
                </a:solidFill>
                <a:latin typeface="Alice"/>
                <a:ea typeface="Alice"/>
                <a:cs typeface="Alice"/>
                <a:sym typeface="Alice"/>
              </a:rPr>
              <a:t>umlahkan GLCM matrix dengan hasil transpose-nya,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12442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6240">
            <a:off x="14762327" y="-1099793"/>
            <a:ext cx="10647357" cy="12433123"/>
          </a:xfrm>
          <a:custGeom>
            <a:avLst/>
            <a:gdLst/>
            <a:ahLst/>
            <a:cxnLst/>
            <a:rect r="r" b="b" t="t" l="l"/>
            <a:pathLst>
              <a:path h="12433123" w="10647357">
                <a:moveTo>
                  <a:pt x="0" y="0"/>
                </a:moveTo>
                <a:lnTo>
                  <a:pt x="10647357" y="0"/>
                </a:lnTo>
                <a:lnTo>
                  <a:pt x="10647357" y="12433122"/>
                </a:lnTo>
                <a:lnTo>
                  <a:pt x="0" y="1243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941" b="-1363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27161" y="-53464"/>
            <a:ext cx="17202725" cy="10340464"/>
            <a:chOff x="0" y="0"/>
            <a:chExt cx="22936967" cy="1378728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1878195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21058772" y="0"/>
                  </a:moveTo>
                  <a:lnTo>
                    <a:pt x="0" y="0"/>
                  </a:lnTo>
                  <a:lnTo>
                    <a:pt x="0" y="13787285"/>
                  </a:lnTo>
                  <a:lnTo>
                    <a:pt x="21058772" y="13787285"/>
                  </a:lnTo>
                  <a:lnTo>
                    <a:pt x="21058772" y="0"/>
                  </a:lnTo>
                  <a:close/>
                </a:path>
              </a:pathLst>
            </a:custGeom>
            <a:blipFill>
              <a:blip r:embed="rId3"/>
              <a:stretch>
                <a:fillRect l="0" t="-96664" r="-40635" b="-10704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8771" cy="13787285"/>
            </a:xfrm>
            <a:custGeom>
              <a:avLst/>
              <a:gdLst/>
              <a:ahLst/>
              <a:cxnLst/>
              <a:rect r="r" b="b" t="t" l="l"/>
              <a:pathLst>
                <a:path h="13787285" w="21058771">
                  <a:moveTo>
                    <a:pt x="0" y="0"/>
                  </a:moveTo>
                  <a:lnTo>
                    <a:pt x="21058771" y="0"/>
                  </a:lnTo>
                  <a:lnTo>
                    <a:pt x="21058771" y="13787285"/>
                  </a:lnTo>
                  <a:lnTo>
                    <a:pt x="0" y="13787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423" r="-32981" b="-9875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62960" y="4998623"/>
            <a:ext cx="6423374" cy="2890905"/>
            <a:chOff x="0" y="0"/>
            <a:chExt cx="8564499" cy="3854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919129" y="167431"/>
              <a:ext cx="3645370" cy="3519678"/>
            </a:xfrm>
            <a:custGeom>
              <a:avLst/>
              <a:gdLst/>
              <a:ahLst/>
              <a:cxnLst/>
              <a:rect r="r" b="b" t="t" l="l"/>
              <a:pathLst>
                <a:path h="3519678" w="3645370">
                  <a:moveTo>
                    <a:pt x="0" y="0"/>
                  </a:moveTo>
                  <a:lnTo>
                    <a:pt x="3645370" y="0"/>
                  </a:lnTo>
                  <a:lnTo>
                    <a:pt x="3645370" y="3519678"/>
                  </a:lnTo>
                  <a:lnTo>
                    <a:pt x="0" y="3519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132" t="-7630" r="-12760" b="-4578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56115" cy="3854540"/>
            </a:xfrm>
            <a:custGeom>
              <a:avLst/>
              <a:gdLst/>
              <a:ahLst/>
              <a:cxnLst/>
              <a:rect r="r" b="b" t="t" l="l"/>
              <a:pathLst>
                <a:path h="3854540" w="3956115">
                  <a:moveTo>
                    <a:pt x="0" y="0"/>
                  </a:moveTo>
                  <a:lnTo>
                    <a:pt x="3956115" y="0"/>
                  </a:lnTo>
                  <a:lnTo>
                    <a:pt x="3956115" y="3854540"/>
                  </a:lnTo>
                  <a:lnTo>
                    <a:pt x="0" y="3854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47" t="0" r="-1776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4195759" y="1276973"/>
              <a:ext cx="483725" cy="1195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17"/>
                </a:lnSpc>
                <a:spcBef>
                  <a:spcPct val="0"/>
                </a:spcBef>
              </a:pPr>
              <a:r>
                <a:rPr lang="en-US" b="true" sz="5369" spc="-365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=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79651" y="4546030"/>
            <a:ext cx="4529420" cy="1766058"/>
          </a:xfrm>
          <a:custGeom>
            <a:avLst/>
            <a:gdLst/>
            <a:ahLst/>
            <a:cxnLst/>
            <a:rect r="r" b="b" t="t" l="l"/>
            <a:pathLst>
              <a:path h="1766058" w="4529420">
                <a:moveTo>
                  <a:pt x="0" y="0"/>
                </a:moveTo>
                <a:lnTo>
                  <a:pt x="4529420" y="0"/>
                </a:lnTo>
                <a:lnTo>
                  <a:pt x="4529420" y="1766058"/>
                </a:lnTo>
                <a:lnTo>
                  <a:pt x="0" y="1766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966917"/>
            <a:ext cx="16608585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Langkah 3.matrix normalization 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279651" y="6444076"/>
            <a:ext cx="4529420" cy="1766058"/>
            <a:chOff x="0" y="0"/>
            <a:chExt cx="6039226" cy="23547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9226" cy="2354744"/>
            </a:xfrm>
            <a:custGeom>
              <a:avLst/>
              <a:gdLst/>
              <a:ahLst/>
              <a:cxnLst/>
              <a:rect r="r" b="b" t="t" l="l"/>
              <a:pathLst>
                <a:path h="2354744" w="6039226">
                  <a:moveTo>
                    <a:pt x="0" y="0"/>
                  </a:moveTo>
                  <a:lnTo>
                    <a:pt x="6039226" y="0"/>
                  </a:lnTo>
                  <a:lnTo>
                    <a:pt x="6039226" y="2354744"/>
                  </a:lnTo>
                  <a:lnTo>
                    <a:pt x="0" y="2354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414966" y="484699"/>
              <a:ext cx="3204092" cy="485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b="true" sz="2237" spc="-152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   1   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414966" y="708212"/>
              <a:ext cx="3204092" cy="153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2"/>
                </a:lnSpc>
              </a:pPr>
            </a:p>
            <a:p>
              <a:pPr algn="ctr">
                <a:lnSpc>
                  <a:spcPts val="3132"/>
                </a:lnSpc>
              </a:pPr>
              <a:r>
                <a:rPr lang="en-US" b="true" sz="2237" spc="-152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    12     </a:t>
              </a:r>
            </a:p>
            <a:p>
              <a:pPr algn="ctr">
                <a:lnSpc>
                  <a:spcPts val="3132"/>
                </a:lnSpc>
                <a:spcBef>
                  <a:spcPct val="0"/>
                </a:spcBef>
              </a:pPr>
              <a:r>
                <a:rPr lang="en-US" b="true" sz="2237" spc="-152">
                  <a:solidFill>
                    <a:srgbClr val="545454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          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6240">
            <a:off x="-1999234" y="-2067275"/>
            <a:ext cx="12238193" cy="14127784"/>
          </a:xfrm>
          <a:custGeom>
            <a:avLst/>
            <a:gdLst/>
            <a:ahLst/>
            <a:cxnLst/>
            <a:rect r="r" b="b" t="t" l="l"/>
            <a:pathLst>
              <a:path h="14127784" w="12238193">
                <a:moveTo>
                  <a:pt x="0" y="0"/>
                </a:moveTo>
                <a:lnTo>
                  <a:pt x="12238193" y="0"/>
                </a:lnTo>
                <a:lnTo>
                  <a:pt x="12238193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1289" y="-1688253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3455" y="2838948"/>
            <a:ext cx="5917014" cy="2758341"/>
            <a:chOff x="0" y="0"/>
            <a:chExt cx="7889352" cy="36777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83185" y="1754616"/>
              <a:ext cx="4445486" cy="1923172"/>
            </a:xfrm>
            <a:custGeom>
              <a:avLst/>
              <a:gdLst/>
              <a:ahLst/>
              <a:cxnLst/>
              <a:rect r="r" b="b" t="t" l="l"/>
              <a:pathLst>
                <a:path h="1923172" w="4445486">
                  <a:moveTo>
                    <a:pt x="0" y="0"/>
                  </a:moveTo>
                  <a:lnTo>
                    <a:pt x="4445485" y="0"/>
                  </a:lnTo>
                  <a:lnTo>
                    <a:pt x="4445485" y="1923172"/>
                  </a:lnTo>
                  <a:lnTo>
                    <a:pt x="0" y="1923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83185" y="532480"/>
              <a:ext cx="7106168" cy="936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  <a:spcBef>
                  <a:spcPct val="0"/>
                </a:spcBef>
              </a:pPr>
              <a:r>
                <a:rPr lang="en-US" sz="2051">
                  <a:solidFill>
                    <a:srgbClr val="545454"/>
                  </a:solidFill>
                  <a:latin typeface="Alice"/>
                  <a:ea typeface="Alice"/>
                  <a:cs typeface="Alice"/>
                  <a:sym typeface="Alice"/>
                </a:rPr>
                <a:t>Kontras mengukur perbedaan antara intensitas piksel yang berdekatan dalam citra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0975"/>
              <a:ext cx="6200658" cy="39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5"/>
                </a:lnSpc>
              </a:pPr>
              <a:r>
                <a:rPr lang="en-US" sz="2871">
                  <a:solidFill>
                    <a:srgbClr val="545454"/>
                  </a:solidFill>
                  <a:latin typeface="Alice Bold"/>
                  <a:ea typeface="Alice Bold"/>
                  <a:cs typeface="Alice Bold"/>
                  <a:sym typeface="Alice Bold"/>
                </a:rPr>
                <a:t>Kontras (Contrast):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63100" y="6227531"/>
            <a:ext cx="7094863" cy="2629422"/>
            <a:chOff x="0" y="0"/>
            <a:chExt cx="9459818" cy="350589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783185" y="532480"/>
              <a:ext cx="8676633" cy="9368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  <a:spcBef>
                  <a:spcPct val="0"/>
                </a:spcBef>
              </a:pPr>
              <a:r>
                <a:rPr lang="en-US" sz="2051">
                  <a:solidFill>
                    <a:srgbClr val="545454"/>
                  </a:solidFill>
                  <a:latin typeface="Alice"/>
                  <a:ea typeface="Alice"/>
                  <a:cs typeface="Alice"/>
                  <a:sym typeface="Alice"/>
                </a:rPr>
                <a:t>Homogenitas mengukur sejauh mana intensitas piksel dalam citra mendekati nilai intensitas yang sama.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80975"/>
              <a:ext cx="7101060" cy="39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5"/>
                </a:lnSpc>
              </a:pPr>
              <a:r>
                <a:rPr lang="en-US" sz="2871">
                  <a:solidFill>
                    <a:srgbClr val="545454"/>
                  </a:solidFill>
                  <a:latin typeface="Alice Bold"/>
                  <a:ea typeface="Alice Bold"/>
                  <a:cs typeface="Alice Bold"/>
                  <a:sym typeface="Alice Bold"/>
                </a:rPr>
                <a:t>Homogenitas (Homogeneity): 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783185" y="1638580"/>
              <a:ext cx="3342437" cy="1867316"/>
            </a:xfrm>
            <a:custGeom>
              <a:avLst/>
              <a:gdLst/>
              <a:ahLst/>
              <a:cxnLst/>
              <a:rect r="r" b="b" t="t" l="l"/>
              <a:pathLst>
                <a:path h="1867316" w="3342437">
                  <a:moveTo>
                    <a:pt x="0" y="0"/>
                  </a:moveTo>
                  <a:lnTo>
                    <a:pt x="3342437" y="0"/>
                  </a:lnTo>
                  <a:lnTo>
                    <a:pt x="3342437" y="1867316"/>
                  </a:lnTo>
                  <a:lnTo>
                    <a:pt x="0" y="1867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63455" y="6227531"/>
            <a:ext cx="6358702" cy="3087554"/>
            <a:chOff x="0" y="0"/>
            <a:chExt cx="8478269" cy="41167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83185" y="2234544"/>
              <a:ext cx="5858973" cy="1882195"/>
            </a:xfrm>
            <a:custGeom>
              <a:avLst/>
              <a:gdLst/>
              <a:ahLst/>
              <a:cxnLst/>
              <a:rect r="r" b="b" t="t" l="l"/>
              <a:pathLst>
                <a:path h="1882195" w="5858973">
                  <a:moveTo>
                    <a:pt x="0" y="0"/>
                  </a:moveTo>
                  <a:lnTo>
                    <a:pt x="5858973" y="0"/>
                  </a:lnTo>
                  <a:lnTo>
                    <a:pt x="5858973" y="1882195"/>
                  </a:lnTo>
                  <a:lnTo>
                    <a:pt x="0" y="1882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83185" y="532480"/>
              <a:ext cx="7695084" cy="141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  <a:spcBef>
                  <a:spcPct val="0"/>
                </a:spcBef>
              </a:pPr>
              <a:r>
                <a:rPr lang="en-US" sz="2051">
                  <a:solidFill>
                    <a:srgbClr val="545454"/>
                  </a:solidFill>
                  <a:latin typeface="Alice"/>
                  <a:ea typeface="Alice"/>
                  <a:cs typeface="Alice"/>
                  <a:sym typeface="Alice"/>
                </a:rPr>
                <a:t>Korelasi mengukur sejauh mana pasangan piksel dengan intensitas yang sama cenderung berada dalam jarak yang sama satu sama lain dalam citra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80975"/>
              <a:ext cx="6200658" cy="39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5"/>
                </a:lnSpc>
              </a:pPr>
              <a:r>
                <a:rPr lang="en-US" sz="2871">
                  <a:solidFill>
                    <a:srgbClr val="545454"/>
                  </a:solidFill>
                  <a:latin typeface="Alice Bold"/>
                  <a:ea typeface="Alice Bold"/>
                  <a:cs typeface="Alice Bold"/>
                  <a:sym typeface="Alice Bold"/>
                </a:rPr>
                <a:t>Korelasi (Correlation):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63100" y="2838948"/>
            <a:ext cx="7530375" cy="2928177"/>
            <a:chOff x="0" y="0"/>
            <a:chExt cx="10040500" cy="39042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83185" y="2076913"/>
              <a:ext cx="2791250" cy="1827323"/>
            </a:xfrm>
            <a:custGeom>
              <a:avLst/>
              <a:gdLst/>
              <a:ahLst/>
              <a:cxnLst/>
              <a:rect r="r" b="b" t="t" l="l"/>
              <a:pathLst>
                <a:path h="1827323" w="2791250">
                  <a:moveTo>
                    <a:pt x="0" y="0"/>
                  </a:moveTo>
                  <a:lnTo>
                    <a:pt x="2791250" y="0"/>
                  </a:lnTo>
                  <a:lnTo>
                    <a:pt x="2791250" y="1827323"/>
                  </a:lnTo>
                  <a:lnTo>
                    <a:pt x="0" y="1827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83185" y="532480"/>
              <a:ext cx="9257316" cy="1416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1"/>
                </a:lnSpc>
                <a:spcBef>
                  <a:spcPct val="0"/>
                </a:spcBef>
              </a:pPr>
              <a:r>
                <a:rPr lang="en-US" sz="2051">
                  <a:solidFill>
                    <a:srgbClr val="545454"/>
                  </a:solidFill>
                  <a:latin typeface="Alice"/>
                  <a:ea typeface="Alice"/>
                  <a:cs typeface="Alice"/>
                  <a:sym typeface="Alice"/>
                </a:rPr>
                <a:t>Energi mengukur sejauh mana intensitas piksel dalam citra homogen. Semakin tinggi energi, semakin homogen citra tersebut.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80975"/>
              <a:ext cx="6200658" cy="399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5"/>
                </a:lnSpc>
              </a:pPr>
              <a:r>
                <a:rPr lang="en-US" sz="2871">
                  <a:solidFill>
                    <a:srgbClr val="545454"/>
                  </a:solidFill>
                  <a:latin typeface="Alice Bold"/>
                  <a:ea typeface="Alice Bold"/>
                  <a:cs typeface="Alice Bold"/>
                  <a:sym typeface="Alice Bold"/>
                </a:rPr>
                <a:t>Energi (Energy):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7408" y="1362075"/>
            <a:ext cx="15973183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true" sz="5000" spc="-340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Fitur-Fitur Utama yang Diekstraksi dari </a:t>
            </a:r>
            <a:r>
              <a:rPr lang="en-US" b="true" sz="5000" spc="-340" u="sng">
                <a:solidFill>
                  <a:srgbClr val="FF3131"/>
                </a:solidFill>
                <a:latin typeface="Roboto Mono Bold"/>
                <a:ea typeface="Roboto Mono Bold"/>
                <a:cs typeface="Roboto Mono Bold"/>
                <a:sym typeface="Roboto Mono Bold"/>
                <a:hlinkClick r:id="rId8" tooltip="https://pemrogramanmatlab.com/2023/08/08/analisis-tekstur-pada-citra-digital-menggunakan-metode-gray-level-co-occurrence-matrix-glcm/"/>
              </a:rPr>
              <a:t>GLCM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2893">
            <a:off x="183274" y="-1920392"/>
            <a:ext cx="17199270" cy="14127784"/>
          </a:xfrm>
          <a:custGeom>
            <a:avLst/>
            <a:gdLst/>
            <a:ahLst/>
            <a:cxnLst/>
            <a:rect r="r" b="b" t="t" l="l"/>
            <a:pathLst>
              <a:path h="14127784" w="17199270">
                <a:moveTo>
                  <a:pt x="0" y="0"/>
                </a:moveTo>
                <a:lnTo>
                  <a:pt x="17199270" y="0"/>
                </a:lnTo>
                <a:lnTo>
                  <a:pt x="17199270" y="14127784"/>
                </a:lnTo>
                <a:lnTo>
                  <a:pt x="0" y="1412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268" r="0" b="-202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16765" y="-2277601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0" y="0"/>
                </a:moveTo>
                <a:lnTo>
                  <a:pt x="13290546" y="0"/>
                </a:lnTo>
                <a:lnTo>
                  <a:pt x="13290546" y="15342622"/>
                </a:lnTo>
                <a:lnTo>
                  <a:pt x="0" y="153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96559" y="4089079"/>
            <a:ext cx="10172700" cy="189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39"/>
              </a:lnSpc>
              <a:spcBef>
                <a:spcPct val="0"/>
              </a:spcBef>
            </a:pPr>
            <a:r>
              <a:rPr lang="en-US" b="true" sz="11099">
                <a:solidFill>
                  <a:srgbClr val="545454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TERIMA KASIH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10880395" y="-1768986"/>
            <a:ext cx="13290546" cy="15342622"/>
          </a:xfrm>
          <a:custGeom>
            <a:avLst/>
            <a:gdLst/>
            <a:ahLst/>
            <a:cxnLst/>
            <a:rect r="r" b="b" t="t" l="l"/>
            <a:pathLst>
              <a:path h="15342622" w="13290546">
                <a:moveTo>
                  <a:pt x="13290546" y="0"/>
                </a:moveTo>
                <a:lnTo>
                  <a:pt x="0" y="0"/>
                </a:lnTo>
                <a:lnTo>
                  <a:pt x="0" y="15342622"/>
                </a:lnTo>
                <a:lnTo>
                  <a:pt x="13290546" y="15342622"/>
                </a:lnTo>
                <a:lnTo>
                  <a:pt x="13290546" y="0"/>
                </a:lnTo>
                <a:close/>
              </a:path>
            </a:pathLst>
          </a:custGeom>
          <a:blipFill>
            <a:blip r:embed="rId3"/>
            <a:stretch>
              <a:fillRect l="0" t="-11238" r="0" b="-11238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DAHL_EhNgIs</dc:identifier>
  <dcterms:modified xsi:type="dcterms:W3CDTF">2011-08-01T06:04:30Z</dcterms:modified>
  <cp:revision>1</cp:revision>
  <dc:title>GLCM</dc:title>
</cp:coreProperties>
</file>